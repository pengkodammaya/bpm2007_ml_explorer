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7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Relationship Id="rId8" Type="http://schemas.openxmlformats.org/officeDocument/2006/relationships/slide" Target="slides/slide8.xml"/>
<Relationship Id="rId9" Type="http://schemas.openxmlformats.org/officeDocument/2006/relationships/slide" Target="slides/slide9.xml"/>
<Relationship Id="rId10" Type="http://schemas.openxmlformats.org/officeDocument/2006/relationships/slide" Target="slides/slide10.xml"/>
<Relationship Id="rId11" Type="http://schemas.openxmlformats.org/officeDocument/2006/relationships/slide" Target="slides/slide11.xml"/>
<Relationship Id="rId12" Type="http://schemas.openxmlformats.org/officeDocument/2006/relationships/slide" Target="slides/slide12.xml"/>
<Relationship Id="rId13" Type="http://schemas.openxmlformats.org/officeDocument/2006/relationships/slide" Target="slides/slide13.xml"/>
<Relationship Id="rId14" Type="http://schemas.openxmlformats.org/officeDocument/2006/relationships/slide" Target="slides/slide14.xml"/>
<Relationship Id="rId15" Type="http://schemas.openxmlformats.org/officeDocument/2006/relationships/slide" Target="slides/slide15.xml"/>
<Relationship Id="rId16" Type="http://schemas.openxmlformats.org/officeDocument/2006/relationships/slide" Target="slides/slide16.xml"/>
<Relationship Id="rId17" Type="http://schemas.openxmlformats.org/officeDocument/2006/relationships/slide" Target="slides/slide17.xml"/>
<Relationship Id="rId18" Type="http://schemas.openxmlformats.org/officeDocument/2006/relationships/slide" Target="slides/slide18.xml"/>
<Relationship Id="rId19" Type="http://schemas.openxmlformats.org/officeDocument/2006/relationships/slide" Target="slides/slide19.xml"/>
<Relationship Id="rId20" Type="http://schemas.openxmlformats.org/officeDocument/2006/relationships/slide" Target="slides/slide20.xml"/>
<Relationship Id="rId21" Type="http://schemas.openxmlformats.org/officeDocument/2006/relationships/slide" Target="slides/slide21.xml"/>
<Relationship Id="rId22" Type="http://schemas.openxmlformats.org/officeDocument/2006/relationships/slide" Target="slides/slide22.xml"/>
<Relationship Id="rId23" Type="http://schemas.openxmlformats.org/officeDocument/2006/relationships/slide" Target="slides/slide23.xml"/>
<Relationship Id="rId24" Type="http://schemas.openxmlformats.org/officeDocument/2006/relationships/slide" Target="slides/slide24.xml"/>
<Relationship Id="rId25" Type="http://schemas.openxmlformats.org/officeDocument/2006/relationships/slide" Target="slides/slide25.xml"/>
<Relationship Id="rId26" Type="http://schemas.openxmlformats.org/officeDocument/2006/relationships/slide" Target="slides/slide26.xml"/>
<Relationship Id="rId27" Type="http://schemas.openxmlformats.org/officeDocument/2006/relationships/slideMaster" Target="slideMasters/slideMaster1.xml"/>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LEI-Based Ultimate Investor Economy Discovery for ASEAN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50"/>
              <a:t>- A public-data discovery layer for BPM7 direct-investment ownership analysis</a:t>
            </a:r>
          </a:p>
          <a:p>
            <a:r>
              <a:rPr lang="en-US" sz="1850"/>
              <a:t>- Focus: evidence-ranked UIE signals, not direct estimation of FDI values</a:t>
            </a:r>
          </a:p>
          <a:p>
            <a:r>
              <a:rPr lang="en-US" sz="1850"/>
              <a:t>- Case study emphasis: Malaysia in comparative ASEAN context</a:t>
            </a:r>
          </a:p>
          <a:p>
            <a:r>
              <a:rPr lang="en-US" sz="1850"/>
              <a:t>- Current caveat: refreshed GLEIF crawls are still running; results use available processed outputs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Why UIE Is Hard To Compile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50"/>
              <a:t>- Immediate counterpart data do not necessarily reveal ultimate control</a:t>
            </a:r>
          </a:p>
          <a:p>
            <a:r>
              <a:rPr lang="en-US" sz="1850"/>
              <a:t>- Ownership chains can pass through holding companies, funds, SPEs and regional hubs</a:t>
            </a:r>
          </a:p>
          <a:p>
            <a:r>
              <a:rPr lang="en-US" sz="1850"/>
              <a:t>- Survey frames often observe resident entities but not full cross-border parent chains</a:t>
            </a:r>
          </a:p>
          <a:p>
            <a:r>
              <a:rPr lang="en-US" sz="1850"/>
              <a:t>- Public parent data are sparse and missingness is non-random</a:t>
            </a:r>
          </a:p>
          <a:p>
            <a:r>
              <a:rPr lang="en-US" sz="1850"/>
              <a:t>- Need: transparent triage that separates evidence, inference and review priorities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Definitions For First-Time Readers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50"/>
              <a:t>- LEI: Legal Entity Identifier, a public identifier for legal entities</a:t>
            </a:r>
          </a:p>
          <a:p>
            <a:r>
              <a:rPr lang="en-US" sz="1850"/>
              <a:t>- GLEIF: Global Legal Entity Identifier Foundation, the source of LEI records and relationship data</a:t>
            </a:r>
          </a:p>
          <a:p>
            <a:r>
              <a:rPr lang="en-US" sz="1850"/>
              <a:t>- UIE: Ultimate Investor Economy, the economy of the ultimate owner/controller in a direct-investment chain</a:t>
            </a:r>
          </a:p>
          <a:p>
            <a:r>
              <a:rPr lang="en-US" sz="1850"/>
              <a:t>- Immediate counterpart economy is not always the UIE</a:t>
            </a:r>
          </a:p>
          <a:p>
            <a:r>
              <a:rPr lang="en-US" sz="1850"/>
              <a:t>- CDIS/DIP: IMF direct-investment positions by counterpart economy, used here as macro validation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What This Exercise Is Not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50"/>
              <a:t>- Not a replacement for official survey or administrative source data</a:t>
            </a:r>
          </a:p>
          <a:p>
            <a:r>
              <a:rPr lang="en-US" sz="1850"/>
              <a:t>- Not a valuation model for FDI positions</a:t>
            </a:r>
          </a:p>
          <a:p>
            <a:r>
              <a:rPr lang="en-US" sz="1850"/>
              <a:t>- Not proof that every model-assigned UIE is correct</a:t>
            </a:r>
          </a:p>
          <a:p>
            <a:r>
              <a:rPr lang="en-US" sz="1850"/>
              <a:t>- Not a claim that LEI adoption is complete or uniform across ASEAN</a:t>
            </a:r>
          </a:p>
          <a:p>
            <a:r>
              <a:rPr lang="en-US" sz="1850"/>
              <a:t>- It is a transparent discovery and prioritisation layer for compiler review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Core Contribution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50"/>
              <a:t>- Use LEI data as a discovery graph rather than a complete ownership register</a:t>
            </a:r>
          </a:p>
          <a:p>
            <a:r>
              <a:rPr lang="en-US" sz="1850"/>
              <a:t>- Build a country-parameterised pipeline for ASEAN hosts</a:t>
            </a:r>
          </a:p>
          <a:p>
            <a:r>
              <a:rPr lang="en-US" sz="1850"/>
              <a:t>- Assign UIE with an explicit evidence ladder and provenance fields</a:t>
            </a:r>
          </a:p>
          <a:p>
            <a:r>
              <a:rPr lang="en-US" sz="1850"/>
              <a:t>- Retain weak/model evidence as triage, not as final statistical classification</a:t>
            </a:r>
          </a:p>
          <a:p>
            <a:r>
              <a:rPr lang="en-US" sz="1850"/>
              <a:t>- Compare micro entity structure with macro CDIS/DIP positions through density ratios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Data Architecture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50"/>
              <a:t>- GLEIF LEI records: legal entity universe by host economy</a:t>
            </a:r>
          </a:p>
          <a:p>
            <a:r>
              <a:rPr lang="en-US" sz="1850"/>
              <a:t>- GLEIF parent relationships: direct-parent and ultimate-parent graph edges</a:t>
            </a:r>
          </a:p>
          <a:p>
            <a:r>
              <a:rPr lang="en-US" sz="1850"/>
              <a:t>- GLEIF reporting exceptions: reason why parent is not reported</a:t>
            </a:r>
          </a:p>
          <a:p>
            <a:r>
              <a:rPr lang="en-US" sz="1850"/>
              <a:t>- Related LEI fetch: parent-node country and legal-name enrichment</a:t>
            </a:r>
          </a:p>
          <a:p>
            <a:r>
              <a:rPr lang="en-US" sz="1850"/>
              <a:t>- Review files: manual overrides and analyst queue statuses</a:t>
            </a:r>
          </a:p>
          <a:p>
            <a:r>
              <a:rPr lang="en-US" sz="1850"/>
              <a:t>- IMF CDIS/DIP: bilateral FDI stock benchmark for macro plausibility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Data Provenance: Public Sources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00"/>
              <a:t>- GLEIF API: https://api.gleif.org/docs</a:t>
            </a:r>
          </a:p>
          <a:p>
            <a:r>
              <a:rPr lang="en-US" sz="1600"/>
              <a:t>- GLEIF inputs used: LEI records, parent relationships, reporting exceptions, full-text search</a:t>
            </a:r>
          </a:p>
          <a:p>
            <a:r>
              <a:rPr lang="en-US" sz="1600"/>
              <a:t>- IMF DIP/CDIS: https://data.imf.org/en/datasets/IMF.STA:DIP</a:t>
            </a:r>
          </a:p>
          <a:p>
            <a:r>
              <a:rPr lang="en-US" sz="1600"/>
              <a:t>- IMF inputs used: 2023 Direct Investment Positions by Counterpart Economy</a:t>
            </a:r>
          </a:p>
          <a:p>
            <a:r>
              <a:rPr lang="en-US" sz="1600"/>
              <a:t>- DIP/CDIS provides inward positions by immediate investor economy and outward positions by immediate investment economy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Data Provenance: Local Files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50"/>
              <a:t>- GLEIF raw files: data/raw/gleif_{country}_lei.parquet</a:t>
            </a:r>
          </a:p>
          <a:p>
            <a:r>
              <a:rPr lang="en-US" sz="1450"/>
              <a:t>- GLEIF relationships: data/interim/gleif_{country}_relationships.parquet</a:t>
            </a:r>
          </a:p>
          <a:p>
            <a:r>
              <a:rPr lang="en-US" sz="1450"/>
              <a:t>- Related parent LEIs: data/raw/gleif_{country}_related_lei.parquet</a:t>
            </a:r>
          </a:p>
          <a:p>
            <a:r>
              <a:rPr lang="en-US" sz="1450"/>
              <a:t>- Reporting exceptions: data/interim/gleif_{country}_reporting_exceptions.parquet</a:t>
            </a:r>
          </a:p>
          <a:p>
            <a:r>
              <a:rPr lang="en-US" sz="1450"/>
              <a:t>- FDI extract: data/dataset_2026-04-22T22_38_34.423483046Z_DEFAULT_INTEGRATION_IMF.STA_DIP_12.0.1.csv</a:t>
            </a:r>
          </a:p>
          <a:p>
            <a:r>
              <a:rPr lang="en-US" sz="1450"/>
              <a:t>- Bilateral LEI counts: data/processed/gleif_bilateral_entity_counts.csv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Data Provenance: Derived Outputs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500"/>
              <a:t>- UIE assignments: data/processed/{country}/uie_assignments.parquet</a:t>
            </a:r>
          </a:p>
          <a:p>
            <a:r>
              <a:rPr lang="en-US" sz="1500"/>
              <a:t>- Review queue: data/processed/my/uie_review_targets.parquet</a:t>
            </a:r>
          </a:p>
          <a:p>
            <a:r>
              <a:rPr lang="en-US" sz="1500"/>
              <a:t>- Product-vehicle audit: data/processed/my/uie_product_vehicle_targets.parquet</a:t>
            </a:r>
          </a:p>
          <a:p>
            <a:r>
              <a:rPr lang="en-US" sz="1500"/>
              <a:t>- GLEIF search benchmark: data/processed/my/entity_match_benchmark.parquet</a:t>
            </a:r>
          </a:p>
          <a:p>
            <a:r>
              <a:rPr lang="en-US" sz="1500"/>
              <a:t>- Report audit exports: reports/conference_*.csv</a:t>
            </a:r>
          </a:p>
          <a:p>
            <a:r>
              <a:rPr lang="en-US" sz="1500"/>
              <a:t>- Manual overrides: data/manual/uie_overrides.csv</a:t>
            </a:r>
          </a:p>
          <a:p>
            <a:r>
              <a:rPr lang="en-US" sz="1500"/>
              <a:t>- Manual review statuses: data/manual/uie_review_status.csv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Method: Evidence Ladder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700"/>
              <a:t>- 1. Source-backed manual override: analyst verified public evidence</a:t>
            </a:r>
          </a:p>
          <a:p>
            <a:r>
              <a:rPr lang="en-US" sz="1700"/>
              <a:t>- 2. GLEIF ultimate parent: strongest machine-readable parent evidence</a:t>
            </a:r>
          </a:p>
          <a:p>
            <a:r>
              <a:rPr lang="en-US" sz="1700"/>
              <a:t>- 3. GLEIF direct parent: known immediate parent, not always ultimate owner</a:t>
            </a:r>
          </a:p>
          <a:p>
            <a:r>
              <a:rPr lang="en-US" sz="1700"/>
              <a:t>- 4. High-confidence name match: brand-bearing subsidiary signal</a:t>
            </a:r>
          </a:p>
          <a:p>
            <a:r>
              <a:rPr lang="en-US" sz="1700"/>
              <a:t>- 5. Address-cluster propagation: useful but penalised for office-hotel clusters</a:t>
            </a:r>
          </a:p>
          <a:p>
            <a:r>
              <a:rPr lang="en-US" sz="1700"/>
              <a:t>- 6. Jurisdiction model fallback: triage signal only</a:t>
            </a:r>
          </a:p>
          <a:p>
            <a:r>
              <a:rPr lang="en-US" sz="1700"/>
              <a:t>- 7. Reporting exception without country: subsidiary/context signal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Method: Why Exceptions Matter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50"/>
              <a:t>- A missing GLEIF parent link is not one type of missing data</a:t>
            </a:r>
          </a:p>
          <a:p>
            <a:r>
              <a:rPr lang="en-US" sz="1850"/>
              <a:t>- NON_CONSOLIDATING can confirm subsidiary status without revealing parent country</a:t>
            </a:r>
          </a:p>
          <a:p>
            <a:r>
              <a:rPr lang="en-US" sz="1850"/>
              <a:t>- NO_LEI suggests a parent exists but lacks an LEI</a:t>
            </a:r>
          </a:p>
          <a:p>
            <a:r>
              <a:rPr lang="en-US" sz="1850"/>
              <a:t>- NON_PUBLIC and NO_KNOWN_PERSON imply governance/disclosure limits</a:t>
            </a:r>
          </a:p>
          <a:p>
            <a:r>
              <a:rPr lang="en-US" sz="1850"/>
              <a:t>- Exception reason changes the appropriate compiler follow-up path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Current ASEAN Data Snapshot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50"/>
              <a:t>- SG: 12,446 LEIs; 2,818 relationship rows; 10,552 exceptions</a:t>
            </a:r>
          </a:p>
          <a:p>
            <a:r>
              <a:rPr lang="en-US" sz="1650"/>
              <a:t>- TH: 2,371 LEIs; 557 relationship rows; 1,976 exceptions</a:t>
            </a:r>
          </a:p>
          <a:p>
            <a:r>
              <a:rPr lang="en-US" sz="1650"/>
              <a:t>- MY: 2,235 LEIs; 317 relationship rows; 1,751 exceptions</a:t>
            </a:r>
          </a:p>
          <a:p>
            <a:r>
              <a:rPr lang="en-US" sz="1650"/>
              <a:t>- ID: 1,459 LEIs; 121 relationship rows; 1,141 exceptions</a:t>
            </a:r>
          </a:p>
          <a:p>
            <a:r>
              <a:rPr lang="en-US" sz="1650"/>
              <a:t>- PH: 735 LEIs; 185 relationship rows; 513 exceptions</a:t>
            </a:r>
          </a:p>
          <a:p>
            <a:r>
              <a:rPr lang="en-US" sz="1650"/>
              <a:t>- VN: 356 LEIs; 231 relationship rows; 223 exceptions</a:t>
            </a:r>
          </a:p>
          <a:p>
            <a:r>
              <a:rPr lang="en-US" sz="1650"/>
              <a:t>- Malaysia refresh note: raw entities now 2,235; relationship scan checkpointed at 901</a:t>
            </a:r>
          </a:p>
          <a:p>
            <a:r>
              <a:rPr lang="en-US" sz="1650"/>
              <a:t>- Final processed UIE tables should be rebuilt after background crawls complete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UIE Assignment Mix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00"/>
              <a:t>- SG: known 1,600 (13.0%); model fallback 5,681 (46.0%)</a:t>
            </a:r>
          </a:p>
          <a:p>
            <a:r>
              <a:rPr lang="en-US" sz="1600"/>
              <a:t>- TH: known 309 (13.2%); model fallback 1,980 (84.5%)</a:t>
            </a:r>
          </a:p>
          <a:p>
            <a:r>
              <a:rPr lang="en-US" sz="1600"/>
              <a:t>- MY: known 181 (8.1%); model fallback 1,792 (80.2%)</a:t>
            </a:r>
          </a:p>
          <a:p>
            <a:r>
              <a:rPr lang="en-US" sz="1600"/>
              <a:t>- ID: known 69 (4.7%); model fallback 1,361 (93.3%)</a:t>
            </a:r>
          </a:p>
          <a:p>
            <a:r>
              <a:rPr lang="en-US" sz="1600"/>
              <a:t>- PH: known 107 (14.6%); model fallback 611 (83.1%)</a:t>
            </a:r>
          </a:p>
          <a:p>
            <a:r>
              <a:rPr lang="en-US" sz="1600"/>
              <a:t>- VN: known 129 (36.2%); model fallback 223 (62.6%)</a:t>
            </a:r>
          </a:p>
          <a:p>
            <a:r>
              <a:rPr lang="en-US" sz="1600"/>
              <a:t>- Interpretation: model fallback dominates where known parent evidence is sparse</a:t>
            </a:r>
          </a:p>
          <a:p>
            <a:r>
              <a:rPr lang="en-US" sz="1600"/>
              <a:t>- A high model share is useful for prioritisation but not equivalent to verified UIE coverage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Malaysia Current Position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50"/>
              <a:t>- Processed UIE rows: 2,235</a:t>
            </a:r>
          </a:p>
          <a:p>
            <a:r>
              <a:rPr lang="en-US" sz="1850"/>
              <a:t>- Foreign-UIE entities: 2,046</a:t>
            </a:r>
          </a:p>
          <a:p>
            <a:r>
              <a:rPr lang="en-US" sz="1850"/>
              <a:t>- Known UIE assignments: 181 (8.1%)</a:t>
            </a:r>
          </a:p>
          <a:p>
            <a:r>
              <a:rPr lang="en-US" sz="1850"/>
              <a:t>- Model fallback assignments: 1,792 (80.2%)</a:t>
            </a:r>
          </a:p>
          <a:p>
            <a:r>
              <a:rPr lang="en-US" sz="1850"/>
              <a:t>- Address-cluster assignments: 195; name-match assignments: 27</a:t>
            </a:r>
          </a:p>
          <a:p>
            <a:r>
              <a:rPr lang="en-US" sz="1850"/>
              <a:t>- Reading: useful public-data map, but final findings must privilege known/source-backed evidence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Ratio Measure: Inward LEI Density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50"/>
              <a:t>- Definition: foreign-UIE LEI count in host / inward FDI stock in USD billions</a:t>
            </a:r>
          </a:p>
          <a:p>
            <a:r>
              <a:rPr lang="en-US" sz="1850"/>
              <a:t>- Malaysia: 2,046 foreign-UIE LEIs / USD 280.9bn</a:t>
            </a:r>
          </a:p>
          <a:p>
            <a:r>
              <a:rPr lang="en-US" sz="1850"/>
              <a:t>- Malaysia density: 7.28 LEIs per USD 1bn</a:t>
            </a:r>
          </a:p>
          <a:p>
            <a:r>
              <a:rPr lang="en-US" sz="1850"/>
              <a:t>- High density: many observed entities per unit of FDI stock</a:t>
            </a:r>
          </a:p>
          <a:p>
            <a:r>
              <a:rPr lang="en-US" sz="1850"/>
              <a:t>- Low density: investment may be concentrated in fewer large vehicles or groups</a:t>
            </a:r>
          </a:p>
          <a:p>
            <a:r>
              <a:rPr lang="en-US" sz="1850"/>
              <a:t>- Caveat: density reflects LEI adoption and entity structure, not statistical coverage alone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Ratio Measure: Outward LEI Density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50"/>
              <a:t>- Definition: source-owned LEIs observed abroad / outward FDI to the same destination in USD billions</a:t>
            </a:r>
          </a:p>
          <a:p>
            <a:r>
              <a:rPr lang="en-US" sz="1850"/>
              <a:t>- Current scope: matched intra-ASEAN bilateral pairs only</a:t>
            </a:r>
          </a:p>
          <a:p>
            <a:r>
              <a:rPr lang="en-US" sz="1850"/>
              <a:t>- Reason for scope: avoids ASEAN-only LEI numerator divided by global outward-FDI denominator</a:t>
            </a:r>
          </a:p>
          <a:p>
            <a:r>
              <a:rPr lang="en-US" sz="1850"/>
              <a:t>- Interpretation: observed entity intensity of outward investment into each ASEAN host</a:t>
            </a:r>
          </a:p>
          <a:p>
            <a:r>
              <a:rPr lang="en-US" sz="1850"/>
              <a:t>- Caveat: not a global outward density unless the numerator is also global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Malaysia Outward Density: ASEAN-Observed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00"/>
              <a:t>- MY -&gt; SG: 15 LEIs; USD 98.0bn; density 0.15 / USD 1bn</a:t>
            </a:r>
          </a:p>
          <a:p>
            <a:r>
              <a:rPr lang="en-US" sz="1600"/>
              <a:t>- MY -&gt; TH: 4 LEIs; USD 7.6bn; density 0.53 / USD 1bn</a:t>
            </a:r>
          </a:p>
          <a:p>
            <a:r>
              <a:rPr lang="en-US" sz="1600"/>
              <a:t>- MY -&gt; VN: 2 LEIs; USD 3.9bn; density 0.51 / USD 1bn</a:t>
            </a:r>
          </a:p>
          <a:p>
            <a:r>
              <a:rPr lang="en-US" sz="1600"/>
              <a:t>- MY -&gt; PH: 1 LEIs; USD 1.7bn; density 0.58 / USD 1bn</a:t>
            </a:r>
          </a:p>
          <a:p>
            <a:r>
              <a:rPr lang="en-US" sz="1600"/>
              <a:t>- These are bilateral MY -&gt; ASEAN ratios, not Malaysia's total global outward density</a:t>
            </a:r>
          </a:p>
          <a:p>
            <a:r>
              <a:rPr lang="en-US" sz="1600"/>
              <a:t>- A global denominator would require a global MY-owned LEI numerator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ASEAN Outward Density Summary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500"/>
              <a:t>- SG: 39 LEIs across 4 ASEAN destinations; density 0.20 / USD 1bn</a:t>
            </a:r>
          </a:p>
          <a:p>
            <a:r>
              <a:rPr lang="en-US" sz="1500"/>
              <a:t>- MY: 22 LEIs across 4 ASEAN destinations; density 0.20 / USD 1bn</a:t>
            </a:r>
          </a:p>
          <a:p>
            <a:r>
              <a:rPr lang="en-US" sz="1500"/>
              <a:t>- ID: 11 LEIs across 1 ASEAN destinations; density 0.13 / USD 1bn</a:t>
            </a:r>
          </a:p>
          <a:p>
            <a:r>
              <a:rPr lang="en-US" sz="1500"/>
              <a:t>- TH: 26 LEIs across 4 ASEAN destinations; density 0.34 / USD 1bn</a:t>
            </a:r>
          </a:p>
          <a:p>
            <a:r>
              <a:rPr lang="en-US" sz="1500"/>
              <a:t>- PH: 11 LEIs across 1 ASEAN destinations; density 1.38 / USD 1bn</a:t>
            </a:r>
          </a:p>
          <a:p>
            <a:r>
              <a:rPr lang="en-US" sz="1500"/>
              <a:t>- VN: 3 LEIs across 1 ASEAN destinations; density 1.10 / USD 1bn</a:t>
            </a:r>
          </a:p>
          <a:p>
            <a:r>
              <a:rPr lang="en-US" sz="1500"/>
              <a:t>- Source totals are sums over matched intra-ASEAN outward pairs only</a:t>
            </a:r>
          </a:p>
          <a:p>
            <a:r>
              <a:rPr lang="en-US" sz="1500"/>
              <a:t>- Use for structure comparison, not for full outward coverage claims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Largest Current Host Results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50"/>
              <a:t>- SG: 10,117 foreign UIE LEIs, density 3.12 / USD 1bn</a:t>
            </a:r>
          </a:p>
          <a:p>
            <a:r>
              <a:rPr lang="en-US" sz="1650"/>
              <a:t>- TH: 2,279 foreign UIE LEIs, density 5.56 / USD 1bn</a:t>
            </a:r>
          </a:p>
          <a:p>
            <a:r>
              <a:rPr lang="en-US" sz="1650"/>
              <a:t>- MY: 2,046 foreign UIE LEIs, density 7.28 / USD 1bn</a:t>
            </a:r>
          </a:p>
          <a:p>
            <a:r>
              <a:rPr lang="en-US" sz="1650"/>
              <a:t>- ID: 1,440 foreign UIE LEIs, density 3.60 / USD 1bn</a:t>
            </a:r>
          </a:p>
          <a:p>
            <a:r>
              <a:rPr lang="en-US" sz="1650"/>
              <a:t>- PH: 710 foreign UIE LEIs, density 8.86 / USD 1bn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CDIS/DIP Validation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50"/>
              <a:t>- SG: rho 0.840 across 38 pairs</a:t>
            </a:r>
          </a:p>
          <a:p>
            <a:r>
              <a:rPr lang="en-US" sz="1850"/>
              <a:t>- BN: rho 0.775 across 4 pairs</a:t>
            </a:r>
          </a:p>
          <a:p>
            <a:r>
              <a:rPr lang="en-US" sz="1850"/>
              <a:t>- ALL: rho 0.633 across 149 pairs</a:t>
            </a:r>
          </a:p>
          <a:p>
            <a:r>
              <a:rPr lang="en-US" sz="1850"/>
              <a:t>- PH: rho 0.483 across 22 pairs</a:t>
            </a:r>
          </a:p>
          <a:p>
            <a:r>
              <a:rPr lang="en-US" sz="1850"/>
              <a:t>- MY: rho 0.433 across 17 pairs</a:t>
            </a:r>
          </a:p>
          <a:p>
            <a:r>
              <a:rPr lang="en-US" sz="1850"/>
              <a:t>- Pooled inward rank correlation is positive and statistically significant</a:t>
            </a:r>
          </a:p>
          <a:p>
            <a:r>
              <a:rPr lang="en-US" sz="1850"/>
              <a:t>- Purpose is macro plausibility, not legal-entity ground truth</a:t>
            </a:r>
          </a:p>
          <a:p>
            <a:r>
              <a:rPr lang="en-US" sz="1850"/>
              <a:t>- Entity counts should correlate directionally with FDI stocks, but not linearly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Malaysia Review Queue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50"/>
              <a:t>- Main review queue: 500 operating/financial/manual-review entities</a:t>
            </a:r>
          </a:p>
          <a:p>
            <a:r>
              <a:rPr lang="en-US" sz="1850"/>
              <a:t>- Ordinary todos in main queue: 499</a:t>
            </a:r>
          </a:p>
          <a:p>
            <a:r>
              <a:rPr lang="en-US" sz="1850"/>
              <a:t>- Verified/source-backed rows in main queue: 1</a:t>
            </a:r>
          </a:p>
          <a:p>
            <a:r>
              <a:rPr lang="en-US" sz="1850"/>
              <a:t>- Separate product-vehicle audit: 509 rows</a:t>
            </a:r>
          </a:p>
          <a:p>
            <a:r>
              <a:rPr lang="en-US" sz="1850"/>
              <a:t>- Product rule applied: 509</a:t>
            </a:r>
          </a:p>
          <a:p>
            <a:r>
              <a:rPr lang="en-US" sz="1850"/>
              <a:t>- Implication: product vehicles no longer crowd the operating-company UIE queue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GLEIF Search Benchmark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50"/>
              <a:t>- Benchmark rows: 61 from top Malaysia review targets</a:t>
            </a:r>
          </a:p>
          <a:p>
            <a:r>
              <a:rPr lang="en-US" sz="1850"/>
              <a:t>- Self-entity found: 48</a:t>
            </a:r>
          </a:p>
          <a:p>
            <a:r>
              <a:rPr lang="en-US" sz="1850"/>
              <a:t>- Candidate country differs from current UIE: 13</a:t>
            </a:r>
          </a:p>
          <a:p>
            <a:r>
              <a:rPr lang="en-US" sz="1850"/>
              <a:t>- Interpretation: useful for entity resolution and candidate generation</a:t>
            </a:r>
          </a:p>
          <a:p>
            <a:r>
              <a:rPr lang="en-US" sz="1850"/>
              <a:t>- Not sufficient as standalone UIE evidence because search often returns the resident entity itself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Compiler Use Case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50"/>
              <a:t>- High-confidence subset: manual overrides + GLEIF ultimate/direct parents</a:t>
            </a:r>
          </a:p>
          <a:p>
            <a:r>
              <a:rPr lang="en-US" sz="1850"/>
              <a:t>- Review subset: name matches, address clusters, exception classes, high-priority model cases</a:t>
            </a:r>
          </a:p>
          <a:p>
            <a:r>
              <a:rPr lang="en-US" sz="1850"/>
              <a:t>- Macro-check subset: compare bilateral entity counts and density with CDIS positions</a:t>
            </a:r>
          </a:p>
          <a:p>
            <a:r>
              <a:rPr lang="en-US" sz="1850"/>
              <a:t>- Governance requirement: preserve source, evidence tier, timestamp and review status</a:t>
            </a:r>
          </a:p>
          <a:p>
            <a:r>
              <a:rPr lang="en-US" sz="1850"/>
              <a:t>- Statistical role: pre-compilation intelligence layer feeding official reconciliation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Interpretation of Findings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50"/>
              <a:t>- GLEIF is valuable as a map of observable legal-entity structure</a:t>
            </a:r>
          </a:p>
          <a:p>
            <a:r>
              <a:rPr lang="en-US" sz="1850"/>
              <a:t>- Known parent evidence is credible but incomplete</a:t>
            </a:r>
          </a:p>
          <a:p>
            <a:r>
              <a:rPr lang="en-US" sz="1850"/>
              <a:t>- Model fallback gives broad coverage but should be read as triage</a:t>
            </a:r>
          </a:p>
          <a:p>
            <a:r>
              <a:rPr lang="en-US" sz="1850"/>
              <a:t>- Malaysia's fund/product vehicle bottleneck is now isolated in a separate audit file</a:t>
            </a:r>
          </a:p>
          <a:p>
            <a:r>
              <a:rPr lang="en-US" sz="1850"/>
              <a:t>- Sector evidence such as GEM is promising for energy/heavy industry, not as a general company matcher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Limitations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50"/>
              <a:t>- Current results are preliminary while refreshed crawls are still running</a:t>
            </a:r>
          </a:p>
          <a:p>
            <a:r>
              <a:rPr lang="en-US" sz="1850"/>
              <a:t>- LEI adoption differs by sector and jurisdiction</a:t>
            </a:r>
          </a:p>
          <a:p>
            <a:r>
              <a:rPr lang="en-US" sz="1850"/>
              <a:t>- GLEIF parent reporting has non-random gaps</a:t>
            </a:r>
          </a:p>
          <a:p>
            <a:r>
              <a:rPr lang="en-US" sz="1850"/>
              <a:t>- Address clustering can reflect service-provider addresses rather than common control</a:t>
            </a:r>
          </a:p>
          <a:p>
            <a:r>
              <a:rPr lang="en-US" sz="1850"/>
              <a:t>- Model probabilities are uncalibrated ranking signals</a:t>
            </a:r>
          </a:p>
          <a:p>
            <a:r>
              <a:rPr lang="en-US" sz="1850"/>
              <a:t>- CDIS validation is macro plausibility, not entity-level validation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Next Work Programme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50"/>
              <a:t>- Complete refreshed GLEIF crawls and rebuild all outputs</a:t>
            </a:r>
          </a:p>
          <a:p>
            <a:r>
              <a:rPr lang="en-US" sz="1850"/>
              <a:t>- Review product-vehicle rule after refreshed ASEAN outputs are rebuilt</a:t>
            </a:r>
          </a:p>
          <a:p>
            <a:r>
              <a:rPr lang="en-US" sz="1850"/>
              <a:t>- Add GEM as auditable sector-specific evidence layer</a:t>
            </a:r>
          </a:p>
          <a:p>
            <a:r>
              <a:rPr lang="en-US" sz="1850"/>
              <a:t>- Produce separate high-confidence and full-discovery result tables</a:t>
            </a:r>
          </a:p>
          <a:p>
            <a:r>
              <a:rPr lang="en-US" sz="1850"/>
              <a:t>- Refresh density and CDIS validation after crawl completion</a:t>
            </a:r>
          </a:p>
          <a:p>
            <a:r>
              <a:rPr lang="en-US" sz="1850"/>
              <a:t>- Prepare final BIS-style paper and conference deck from refreshed snapshot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ference">
  <a:themeElements>
    <a:clrScheme name="Conference">
      <a:dk1>
        <a:srgbClr val="1F2937"/>
      </a:dk1>
      <a:lt1>
        <a:srgbClr val="FFFFFF"/>
      </a:lt1>
      <a:dk2>
        <a:srgbClr val="334155"/>
      </a:dk2>
      <a:lt2>
        <a:srgbClr val="E5E7EB"/>
      </a:lt2>
      <a:accent1>
        <a:srgbClr val="2563EB"/>
      </a:accent1>
      <a:accent2>
        <a:srgbClr val="059669"/>
      </a:accent2>
      <a:accent3>
        <a:srgbClr val="D97706"/>
      </a:accent3>
      <a:accent4>
        <a:srgbClr val="7C3AED"/>
      </a:accent4>
      <a:accent5>
        <a:srgbClr val="DC2626"/>
      </a:accent5>
      <a:accent6>
        <a:srgbClr val="0891B2"/>
      </a:accent6>
      <a:hlink>
        <a:srgbClr val="2563EB"/>
      </a:hlink>
      <a:folHlink>
        <a:srgbClr val="7C3AED"/>
      </a:folHlink>
    </a:clrScheme>
    <a:fontScheme name="Office">
      <a:majorFont>
        <a:latin typeface="Aptos Display"/>
      </a:majorFont>
      <a:minorFont>
        <a:latin typeface="Aptos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 OOXML Generator</Application>
  <Slides>26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LEI-Based UIE Discovery for ASEAN</dc:title>
  <dc:creator>Codex</dc:creator>
  <cp:lastModifiedBy>Codex</cp:lastModifiedBy>
  <dcterms:created xsi:type="dcterms:W3CDTF">2026-06-22T00:00:00Z</dcterms:created>
  <dcterms:modified xsi:type="dcterms:W3CDTF">2026-06-22T00:00:00Z</dcterms:modified>
</cp:coreProperties>
</file>