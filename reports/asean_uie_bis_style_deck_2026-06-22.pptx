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LEI-Based Ultimate Investor Economy Discovery for ASEAN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public-data discovery layer for BPM7 direct-investment ownership analysis</a:t>
            </a:r>
          </a:p>
          <a:p>
            <a:r>
              <a:rPr lang="en-US" sz="1850"/>
              <a:t>- Focus: evidence-ranked UIE signals, not direct estimation of FDI values</a:t>
            </a:r>
          </a:p>
          <a:p>
            <a:r>
              <a:rPr lang="en-US" sz="1850"/>
              <a:t>- Case study emphasis: Malaysia in comparative ASEAN context</a:t>
            </a:r>
          </a:p>
          <a:p>
            <a:r>
              <a:rPr lang="en-US" sz="1850"/>
              <a:t>- Current caveat: refreshed GLEIF crawls are still running; results use available processed outputs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Why UIE Is Hard To Compile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Immediate counterpart data do not necessarily reveal ultimate control</a:t>
            </a:r>
          </a:p>
          <a:p>
            <a:r>
              <a:rPr lang="en-US" sz="1850"/>
              <a:t>- Ownership chains can pass through holding companies, funds, SPEs and regional hubs</a:t>
            </a:r>
          </a:p>
          <a:p>
            <a:r>
              <a:rPr lang="en-US" sz="1850"/>
              <a:t>- Survey frames often observe resident entities but not full cross-border parent chains</a:t>
            </a:r>
          </a:p>
          <a:p>
            <a:r>
              <a:rPr lang="en-US" sz="1850"/>
              <a:t>- Public parent data are sparse and missingness is non-random</a:t>
            </a:r>
          </a:p>
          <a:p>
            <a:r>
              <a:rPr lang="en-US" sz="1850"/>
              <a:t>- Need: transparent triage that separates evidence, inference and review priorities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Core Contribution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Use LEI data as a discovery graph rather than a complete ownership register</a:t>
            </a:r>
          </a:p>
          <a:p>
            <a:r>
              <a:rPr lang="en-US" sz="1850"/>
              <a:t>- Build a country-parameterised pipeline for ASEAN hosts</a:t>
            </a:r>
          </a:p>
          <a:p>
            <a:r>
              <a:rPr lang="en-US" sz="1850"/>
              <a:t>- Assign UIE with an explicit evidence ladder and provenance fields</a:t>
            </a:r>
          </a:p>
          <a:p>
            <a:r>
              <a:rPr lang="en-US" sz="1850"/>
              <a:t>- Retain weak/model evidence as triage, not as final statistical classification</a:t>
            </a:r>
          </a:p>
          <a:p>
            <a:r>
              <a:rPr lang="en-US" sz="1850"/>
              <a:t>- Compare micro entity structure with macro CDIS/DIP positions through density ratios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Data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LEI records: legal entity universe by host economy</a:t>
            </a:r>
          </a:p>
          <a:p>
            <a:r>
              <a:rPr lang="en-US" sz="1850"/>
              <a:t>- GLEIF parent relationships: direct-parent and ultimate-parent graph edges</a:t>
            </a:r>
          </a:p>
          <a:p>
            <a:r>
              <a:rPr lang="en-US" sz="1850"/>
              <a:t>- GLEIF reporting exceptions: reason why parent is not reported</a:t>
            </a:r>
          </a:p>
          <a:p>
            <a:r>
              <a:rPr lang="en-US" sz="1850"/>
              <a:t>- Related LEI fetch: parent-node country and legal-name enrichment</a:t>
            </a:r>
          </a:p>
          <a:p>
            <a:r>
              <a:rPr lang="en-US" sz="1850"/>
              <a:t>- Review files: manual overrides and analyst queue statuses</a:t>
            </a:r>
          </a:p>
          <a:p>
            <a:r>
              <a:rPr lang="en-US" sz="1850"/>
              <a:t>- IMF CDIS/DIP: bilateral FDI stock benchmark for macro plausibility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Evidence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700"/>
              <a:t>- 1. Source-backed manual override: analyst verified public evidence</a:t>
            </a:r>
          </a:p>
          <a:p>
            <a:r>
              <a:rPr lang="en-US" sz="1700"/>
              <a:t>- 2. GLEIF ultimate parent: strongest machine-readable parent evidence</a:t>
            </a:r>
          </a:p>
          <a:p>
            <a:r>
              <a:rPr lang="en-US" sz="1700"/>
              <a:t>- 3. GLEIF direct parent: known immediate parent, not always ultimate owner</a:t>
            </a:r>
          </a:p>
          <a:p>
            <a:r>
              <a:rPr lang="en-US" sz="1700"/>
              <a:t>- 4. High-confidence name match: brand-bearing subsidiary signal</a:t>
            </a:r>
          </a:p>
          <a:p>
            <a:r>
              <a:rPr lang="en-US" sz="1700"/>
              <a:t>- 5. Address-cluster propagation: useful but penalised for office-hotel clusters</a:t>
            </a:r>
          </a:p>
          <a:p>
            <a:r>
              <a:rPr lang="en-US" sz="1700"/>
              <a:t>- 6. Jurisdiction model fallback: triage signal only</a:t>
            </a:r>
          </a:p>
          <a:p>
            <a:r>
              <a:rPr lang="en-US" sz="1700"/>
              <a:t>- 7. Reporting exception without country: subsidiary/context signal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Method: Why Exceptions Matter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A missing GLEIF parent link is not one type of missing data</a:t>
            </a:r>
          </a:p>
          <a:p>
            <a:r>
              <a:rPr lang="en-US" sz="1850"/>
              <a:t>- NON_CONSOLIDATING can confirm subsidiary status without revealing parent country</a:t>
            </a:r>
          </a:p>
          <a:p>
            <a:r>
              <a:rPr lang="en-US" sz="1850"/>
              <a:t>- NO_LEI suggests a parent exists but lacks an LEI</a:t>
            </a:r>
          </a:p>
          <a:p>
            <a:r>
              <a:rPr lang="en-US" sz="1850"/>
              <a:t>- NON_PUBLIC and NO_KNOWN_PERSON imply governance/disclosure limits</a:t>
            </a:r>
          </a:p>
          <a:p>
            <a:r>
              <a:rPr lang="en-US" sz="1850"/>
              <a:t>- Exception reason changes the appropriate compiler follow-up path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Current ASEAN Data Snapshot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12,446 LEIs; 2,818 relationship rows; 10,552 exceptions</a:t>
            </a:r>
          </a:p>
          <a:p>
            <a:r>
              <a:rPr lang="en-US" sz="1650"/>
              <a:t>- TH: 2,371 LEIs; 557 relationship rows; 1,976 exceptions</a:t>
            </a:r>
          </a:p>
          <a:p>
            <a:r>
              <a:rPr lang="en-US" sz="1650"/>
              <a:t>- MY: 2,235 LEIs; 317 relationship rows; 1,751 exceptions</a:t>
            </a:r>
          </a:p>
          <a:p>
            <a:r>
              <a:rPr lang="en-US" sz="1650"/>
              <a:t>- ID: 1,459 LEIs; 121 relationship rows; 1,141 exceptions</a:t>
            </a:r>
          </a:p>
          <a:p>
            <a:r>
              <a:rPr lang="en-US" sz="1650"/>
              <a:t>- PH: 735 LEIs; 185 relationship rows; 513 exceptions</a:t>
            </a:r>
          </a:p>
          <a:p>
            <a:r>
              <a:rPr lang="en-US" sz="1650"/>
              <a:t>- VN: 356 LEIs; 231 relationship rows; 223 exceptions</a:t>
            </a:r>
          </a:p>
          <a:p>
            <a:r>
              <a:rPr lang="en-US" sz="1650"/>
              <a:t>- Malaysia refresh note: raw entities now 2,235; relationship scan checkpointed at 826</a:t>
            </a:r>
          </a:p>
          <a:p>
            <a:r>
              <a:rPr lang="en-US" sz="1650"/>
              <a:t>- Final processed UIE tables should be rebuilt after background crawls complete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UIE Assignment Mix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00"/>
              <a:t>- SG: known 1,600 (13.0%); model fallback 5,681 (46.0%)</a:t>
            </a:r>
          </a:p>
          <a:p>
            <a:r>
              <a:rPr lang="en-US" sz="1600"/>
              <a:t>- TH: known 309 (13.2%); model fallback 1,980 (84.5%)</a:t>
            </a:r>
          </a:p>
          <a:p>
            <a:r>
              <a:rPr lang="en-US" sz="1600"/>
              <a:t>- MY: known 181 (8.2%); model fallback 1,792 (81.6%)</a:t>
            </a:r>
          </a:p>
          <a:p>
            <a:r>
              <a:rPr lang="en-US" sz="1600"/>
              <a:t>- ID: known 69 (4.7%); model fallback 1,361 (93.3%)</a:t>
            </a:r>
          </a:p>
          <a:p>
            <a:r>
              <a:rPr lang="en-US" sz="1600"/>
              <a:t>- PH: known 107 (14.6%); model fallback 611 (83.1%)</a:t>
            </a:r>
          </a:p>
          <a:p>
            <a:r>
              <a:rPr lang="en-US" sz="1600"/>
              <a:t>- VN: known 129 (36.2%); model fallback 223 (62.6%)</a:t>
            </a:r>
          </a:p>
          <a:p>
            <a:r>
              <a:rPr lang="en-US" sz="1600"/>
              <a:t>- Interpretation: model fallback dominates where known parent evidence is sparse</a:t>
            </a:r>
          </a:p>
          <a:p>
            <a:r>
              <a:rPr lang="en-US" sz="1600"/>
              <a:t>- A high model share is useful for prioritisation but not equivalent to verified UIE coverage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Current Position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Processed UIE rows: 2,195</a:t>
            </a:r>
          </a:p>
          <a:p>
            <a:r>
              <a:rPr lang="en-US" sz="1850"/>
              <a:t>- Foreign-UIE entities: 2,046</a:t>
            </a:r>
          </a:p>
          <a:p>
            <a:r>
              <a:rPr lang="en-US" sz="1850"/>
              <a:t>- Known UIE assignments: 181 (8.2%)</a:t>
            </a:r>
          </a:p>
          <a:p>
            <a:r>
              <a:rPr lang="en-US" sz="1850"/>
              <a:t>- Model fallback assignments: 1,792 (81.6%)</a:t>
            </a:r>
          </a:p>
          <a:p>
            <a:r>
              <a:rPr lang="en-US" sz="1850"/>
              <a:t>- Address-cluster assignments: 195; name-match assignments: 27</a:t>
            </a:r>
          </a:p>
          <a:p>
            <a:r>
              <a:rPr lang="en-US" sz="1850"/>
              <a:t>- Reading: useful public-data map, but final findings must privilege known/source-backed evidence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Ratio Measure: Inward LEI Density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Definition: foreign-UIE LEI count in host / inward FDI stock in USD billions</a:t>
            </a:r>
          </a:p>
          <a:p>
            <a:r>
              <a:rPr lang="en-US" sz="1850"/>
              <a:t>- Malaysia: 2,046 foreign-UIE LEIs / USD 280.9bn</a:t>
            </a:r>
          </a:p>
          <a:p>
            <a:r>
              <a:rPr lang="en-US" sz="1850"/>
              <a:t>- Malaysia density: 7.28 LEIs per USD 1bn</a:t>
            </a:r>
          </a:p>
          <a:p>
            <a:r>
              <a:rPr lang="en-US" sz="1850"/>
              <a:t>- High density: many observed entities per unit of FDI stock</a:t>
            </a:r>
          </a:p>
          <a:p>
            <a:r>
              <a:rPr lang="en-US" sz="1850"/>
              <a:t>- Low density: investment may be concentrated in fewer large vehicles or groups</a:t>
            </a:r>
          </a:p>
          <a:p>
            <a:r>
              <a:rPr lang="en-US" sz="1850"/>
              <a:t>- Caveat: density reflects LEI adoption and entity structure, not statistical coverage alone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Largest Current Host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650"/>
              <a:t>- SG: 10,117 foreign UIE LEIs, density 3.12 / USD 1bn</a:t>
            </a:r>
          </a:p>
          <a:p>
            <a:r>
              <a:rPr lang="en-US" sz="1650"/>
              <a:t>- TH: 2,279 foreign UIE LEIs, density 5.56 / USD 1bn</a:t>
            </a:r>
          </a:p>
          <a:p>
            <a:r>
              <a:rPr lang="en-US" sz="1650"/>
              <a:t>- MY: 2,046 foreign UIE LEIs, density 7.28 / USD 1bn</a:t>
            </a:r>
          </a:p>
          <a:p>
            <a:r>
              <a:rPr lang="en-US" sz="1650"/>
              <a:t>- ID: 1,440 foreign UIE LEIs, density 3.60 / USD 1bn</a:t>
            </a:r>
          </a:p>
          <a:p>
            <a:r>
              <a:rPr lang="en-US" sz="1650"/>
              <a:t>- PH: 710 foreign UIE LEIs, density 8.86 / USD 1bn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CDIS/DIP Validation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SG: rho 0.840 across 38 pairs</a:t>
            </a:r>
          </a:p>
          <a:p>
            <a:r>
              <a:rPr lang="en-US" sz="1850"/>
              <a:t>- BN: rho 0.775 across 4 pairs</a:t>
            </a:r>
          </a:p>
          <a:p>
            <a:r>
              <a:rPr lang="en-US" sz="1850"/>
              <a:t>- ALL: rho 0.633 across 149 pairs</a:t>
            </a:r>
          </a:p>
          <a:p>
            <a:r>
              <a:rPr lang="en-US" sz="1850"/>
              <a:t>- PH: rho 0.483 across 22 pairs</a:t>
            </a:r>
          </a:p>
          <a:p>
            <a:r>
              <a:rPr lang="en-US" sz="1850"/>
              <a:t>- MY: rho 0.433 across 17 pairs</a:t>
            </a:r>
          </a:p>
          <a:p>
            <a:r>
              <a:rPr lang="en-US" sz="1850"/>
              <a:t>- Pooled inward rank correlation is positive and statistically significant</a:t>
            </a:r>
          </a:p>
          <a:p>
            <a:r>
              <a:rPr lang="en-US" sz="1850"/>
              <a:t>- Purpose is macro plausibility, not legal-entity ground truth</a:t>
            </a:r>
          </a:p>
          <a:p>
            <a:r>
              <a:rPr lang="en-US" sz="1850"/>
              <a:t>- Entity counts should correlate directionally with FDI stocks, but not linearly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Malaysia Review Queue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Review queue size: 500 entities</a:t>
            </a:r>
          </a:p>
          <a:p>
            <a:r>
              <a:rPr lang="en-US" sz="1850"/>
              <a:t>- Fund/product vehicle rule needed: 363</a:t>
            </a:r>
          </a:p>
          <a:p>
            <a:r>
              <a:rPr lang="en-US" sz="1850"/>
              <a:t>- Ordinary operating-company todos: 133</a:t>
            </a:r>
          </a:p>
          <a:p>
            <a:r>
              <a:rPr lang="en-US" sz="1850"/>
              <a:t>- Nominee/custodian handling needed: 3</a:t>
            </a:r>
          </a:p>
          <a:p>
            <a:r>
              <a:rPr lang="en-US" sz="1850"/>
              <a:t>- Implication: queue quality improves more from entity-type rules than from brute-force manual review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GLEIF Search Benchmark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Benchmark rows: 61 from top Malaysia review targets</a:t>
            </a:r>
          </a:p>
          <a:p>
            <a:r>
              <a:rPr lang="en-US" sz="1850"/>
              <a:t>- Self-entity found: 48</a:t>
            </a:r>
          </a:p>
          <a:p>
            <a:r>
              <a:rPr lang="en-US" sz="1850"/>
              <a:t>- Candidate country differs from current UIE: 13</a:t>
            </a:r>
          </a:p>
          <a:p>
            <a:r>
              <a:rPr lang="en-US" sz="1850"/>
              <a:t>- Interpretation: useful for entity resolution and candidate generation</a:t>
            </a:r>
          </a:p>
          <a:p>
            <a:r>
              <a:rPr lang="en-US" sz="1850"/>
              <a:t>- Not sufficient as standalone UIE evidence because search often returns the resident entity itself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Compiler Use Case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High-confidence subset: manual overrides + GLEIF ultimate/direct parents</a:t>
            </a:r>
          </a:p>
          <a:p>
            <a:r>
              <a:rPr lang="en-US" sz="1850"/>
              <a:t>- Review subset: name matches, address clusters, exception classes, high-priority model cases</a:t>
            </a:r>
          </a:p>
          <a:p>
            <a:r>
              <a:rPr lang="en-US" sz="1850"/>
              <a:t>- Macro-check subset: compare bilateral entity counts and density with CDIS positions</a:t>
            </a:r>
          </a:p>
          <a:p>
            <a:r>
              <a:rPr lang="en-US" sz="1850"/>
              <a:t>- Governance requirement: preserve source, evidence tier, timestamp and review status</a:t>
            </a:r>
          </a:p>
          <a:p>
            <a:r>
              <a:rPr lang="en-US" sz="1850"/>
              <a:t>- Statistical role: pre-compilation intelligence layer feeding official reconciliation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Interpretation of Findings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GLEIF is valuable as a map of observable legal-entity structure</a:t>
            </a:r>
          </a:p>
          <a:p>
            <a:r>
              <a:rPr lang="en-US" sz="1850"/>
              <a:t>- Known parent evidence is credible but incomplete</a:t>
            </a:r>
          </a:p>
          <a:p>
            <a:r>
              <a:rPr lang="en-US" sz="1850"/>
              <a:t>- Model fallback gives broad coverage but should be read as triage</a:t>
            </a:r>
          </a:p>
          <a:p>
            <a:r>
              <a:rPr lang="en-US" sz="1850"/>
              <a:t>- Malaysia's immediate bottleneck is classification of funds, products and nominee/custodian entities</a:t>
            </a:r>
          </a:p>
          <a:p>
            <a:r>
              <a:rPr lang="en-US" sz="1850"/>
              <a:t>- Sector evidence such as GEM is promising for energy/heavy industry, not as a general company matcher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Limitations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Current results are preliminary while refreshed crawls are still running</a:t>
            </a:r>
          </a:p>
          <a:p>
            <a:r>
              <a:rPr lang="en-US" sz="1850"/>
              <a:t>- LEI adoption differs by sector and jurisdiction</a:t>
            </a:r>
          </a:p>
          <a:p>
            <a:r>
              <a:rPr lang="en-US" sz="1850"/>
              <a:t>- GLEIF parent reporting has non-random gaps</a:t>
            </a:r>
          </a:p>
          <a:p>
            <a:r>
              <a:rPr lang="en-US" sz="1850"/>
              <a:t>- Address clustering can reflect service-provider addresses rather than common control</a:t>
            </a:r>
          </a:p>
          <a:p>
            <a:r>
              <a:rPr lang="en-US" sz="1850"/>
              <a:t>- Model probabilities are uncalibrated ranking signals</a:t>
            </a:r>
          </a:p>
          <a:p>
            <a:r>
              <a:rPr lang="en-US" sz="1850"/>
              <a:t>- CDIS validation is macro plausibility, not entity-level validation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260000"/>
            <a:ext cx="115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</a:rPr>
              <a:t>Next Work Programme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0000" y="1150000"/>
            <a:ext cx="11200000" cy="52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50"/>
              <a:t>- Complete refreshed GLEIF crawls and rebuild all outputs</a:t>
            </a:r>
          </a:p>
          <a:p>
            <a:r>
              <a:rPr lang="en-US" sz="1850"/>
              <a:t>- Implement fund/product vehicle rule before expanding manual review</a:t>
            </a:r>
          </a:p>
          <a:p>
            <a:r>
              <a:rPr lang="en-US" sz="1850"/>
              <a:t>- Add GEM as auditable sector-specific evidence layer</a:t>
            </a:r>
          </a:p>
          <a:p>
            <a:r>
              <a:rPr lang="en-US" sz="1850"/>
              <a:t>- Produce separate high-confidence and full-discovery result tables</a:t>
            </a:r>
          </a:p>
          <a:p>
            <a:r>
              <a:rPr lang="en-US" sz="1850"/>
              <a:t>- Refresh density and CDIS validation after crawl completion</a:t>
            </a:r>
          </a:p>
          <a:p>
            <a:r>
              <a:rPr lang="en-US" sz="1850"/>
              <a:t>- Prepare final BIS-style paper and conference deck from refreshed snapshot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0000" y="6500000"/>
            <a:ext cx="11200000" cy="4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300"/>
              <a:t>Preliminary public-data discovery outputs | generated 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erence">
  <a:themeElements>
    <a:clrScheme name="Conference">
      <a:dk1>
        <a:srgbClr val="1F2937"/>
      </a:dk1>
      <a:lt1>
        <a:srgbClr val="FFFFFF"/>
      </a:lt1>
      <a:dk2>
        <a:srgbClr val="334155"/>
      </a:dk2>
      <a:lt2>
        <a:srgbClr val="E5E7E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Slides>18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LEI-Based UIE Discovery for ASEAN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