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LEI-Based UIE Discovery for ASEAN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Conference draft: methodology and current results</a:t>
            </a:r>
          </a:p>
          <a:p>
            <a:r>
              <a:rPr lang="en-US" sz="2100"/>
              <a:t>- Generated 2026-06-22 from workspace outputs</a:t>
            </a:r>
          </a:p>
          <a:p>
            <a:r>
              <a:rPr lang="en-US" sz="2100"/>
              <a:t>- Discovery layer for BPM7 direct-investment ownership analysis</a:t>
            </a:r>
          </a:p>
          <a:p>
            <a:r>
              <a:rPr lang="en-US" sz="2100"/>
              <a:t>- Current caveat: Malaysia relationship refresh is still checkpointed in background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UIE classification depends on cross-border ownership chains</a:t>
            </a:r>
          </a:p>
          <a:p>
            <a:r>
              <a:rPr lang="en-US" sz="2100"/>
              <a:t>- Public parent-relationship data are sparse and uneven across economies</a:t>
            </a:r>
          </a:p>
          <a:p>
            <a:r>
              <a:rPr lang="en-US" sz="2100"/>
              <a:t>- The objective is not direct estimation, but a ranked discovery layer for analyst follow-up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Data Pipeline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GLEIF country LEI records: domestic entity universe</a:t>
            </a:r>
          </a:p>
          <a:p>
            <a:r>
              <a:rPr lang="en-US" sz="2100"/>
              <a:t>- GLEIF direct and ultimate parent relationships: highest-confidence ownership evidence</a:t>
            </a:r>
          </a:p>
          <a:p>
            <a:r>
              <a:rPr lang="en-US" sz="2100"/>
              <a:t>- Reporting exceptions: subsidiary/context signal where parent is not disclosed</a:t>
            </a:r>
          </a:p>
          <a:p>
            <a:r>
              <a:rPr lang="en-US" sz="2100"/>
              <a:t>- Related LEI fetch: enrich foreign parent nodes for country assignment</a:t>
            </a:r>
          </a:p>
          <a:p>
            <a:r>
              <a:rPr lang="en-US" sz="2100"/>
              <a:t>- CDIS/DIP: macro validation via rank correlation and density ratios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Evidence Ladder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- 1. Manual source-backed override</a:t>
            </a:r>
          </a:p>
          <a:p>
            <a:r>
              <a:rPr lang="en-US" sz="2100"/>
              <a:t>- 2. GLEIF ultimate parent</a:t>
            </a:r>
          </a:p>
          <a:p>
            <a:r>
              <a:rPr lang="en-US" sz="2100"/>
              <a:t>- 3. GLEIF direct parent</a:t>
            </a:r>
          </a:p>
          <a:p>
            <a:r>
              <a:rPr lang="en-US" sz="2100"/>
              <a:t>- 4. High-confidence name match</a:t>
            </a:r>
          </a:p>
          <a:p>
            <a:r>
              <a:rPr lang="en-US" sz="2100"/>
              <a:t>- 5. Address-cluster parent propagation</a:t>
            </a:r>
          </a:p>
          <a:p>
            <a:r>
              <a:rPr lang="en-US" sz="2100"/>
              <a:t>- 6. Jurisdiction model fallback</a:t>
            </a:r>
          </a:p>
          <a:p>
            <a:r>
              <a:rPr lang="en-US" sz="2100"/>
              <a:t>- 7. Reporting exception with no country</a:t>
            </a:r>
          </a:p>
          <a:p>
            <a:r>
              <a:rPr lang="en-US" sz="2100"/>
              <a:t>- 8. Unassigned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Current ASEAN Coverage Snapshot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Singapore: 12,446 raw LEIs, 2,818 relationship rows</a:t>
            </a:r>
          </a:p>
          <a:p>
            <a:r>
              <a:rPr lang="en-US" sz="2100"/>
              <a:t>- Malaysia: 2,195 processed UIE rows; raw LEI refresh now at 2,235</a:t>
            </a:r>
          </a:p>
          <a:p>
            <a:r>
              <a:rPr lang="en-US" sz="2100"/>
              <a:t>- Thailand and Malaysia form the next tier after Singapore by LEI volume</a:t>
            </a:r>
          </a:p>
          <a:p>
            <a:r>
              <a:rPr lang="en-US" sz="2100"/>
              <a:t>- Small hosts are covered but sparse: KH, BN, LA, MM, TL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Ratio Measure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Inward LEI density = foreign-UIE LEI count / inward FDI stock in USD billions</a:t>
            </a:r>
          </a:p>
          <a:p>
            <a:r>
              <a:rPr lang="en-US" sz="2100"/>
              <a:t>- Malaysia current processed density: 7.28 LEIs per USD 1bn</a:t>
            </a:r>
          </a:p>
          <a:p>
            <a:r>
              <a:rPr lang="en-US" sz="2100"/>
              <a:t>- Malaysia numerator: 2,046; denominator: USD 280.9bn</a:t>
            </a:r>
          </a:p>
          <a:p>
            <a:r>
              <a:rPr lang="en-US" sz="2100"/>
              <a:t>- Interpretation: low density can indicate large positions concentrated in relatively few vehicles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Largest Current Host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SG: 10,117 foreign UIE LEIs, density 3.12 / USD 1bn</a:t>
            </a:r>
          </a:p>
          <a:p>
            <a:r>
              <a:rPr lang="en-US" sz="2100"/>
              <a:t>- TH: 2,279 foreign UIE LEIs, density 5.56 / USD 1bn</a:t>
            </a:r>
          </a:p>
          <a:p>
            <a:r>
              <a:rPr lang="en-US" sz="2100"/>
              <a:t>- MY: 2,046 foreign UIE LEIs, density 7.28 / USD 1bn</a:t>
            </a:r>
          </a:p>
          <a:p>
            <a:r>
              <a:rPr lang="en-US" sz="2100"/>
              <a:t>- ID: 1,440 foreign UIE LEIs, density 3.60 / USD 1bn</a:t>
            </a:r>
          </a:p>
          <a:p>
            <a:r>
              <a:rPr lang="en-US" sz="2100"/>
              <a:t>- PH: 710 foreign UIE LEIs, density 8.86 / USD 1bn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Malaysia Review Queue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- 500 review targets generated</a:t>
            </a:r>
          </a:p>
          <a:p>
            <a:r>
              <a:rPr lang="en-US" sz="2100"/>
              <a:t>- 363 need fund/product vehicle handling</a:t>
            </a:r>
          </a:p>
          <a:p>
            <a:r>
              <a:rPr lang="en-US" sz="2100"/>
              <a:t>- 133 ordinary operating-company todos</a:t>
            </a:r>
          </a:p>
          <a:p>
            <a:r>
              <a:rPr lang="en-US" sz="2100"/>
              <a:t>- 3 nominee/custodian cases</a:t>
            </a:r>
          </a:p>
          <a:p>
            <a:r>
              <a:rPr lang="en-US" sz="2100"/>
              <a:t>- Immediate fix: reduce review noise before adding broad manual overrides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GLEIF Search Benchmark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- 61 candidate rows from top Malaysia review targets</a:t>
            </a:r>
          </a:p>
          <a:p>
            <a:r>
              <a:rPr lang="en-US" sz="2100"/>
              <a:t>- 48 returned the domestic entity itself</a:t>
            </a:r>
          </a:p>
          <a:p>
            <a:r>
              <a:rPr lang="en-US" sz="2100"/>
              <a:t>- 13 surfaced country discrepancies</a:t>
            </a:r>
          </a:p>
          <a:p>
            <a:r>
              <a:rPr lang="en-US" sz="2100"/>
              <a:t>- Finding: useful for entity resolution, weak as standalone UIE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CDIS Validation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SG: rho 0.840 across 38 pairs</a:t>
            </a:r>
          </a:p>
          <a:p>
            <a:r>
              <a:rPr lang="en-US" sz="2100"/>
              <a:t>- BN: rho 0.775 across 4 pairs</a:t>
            </a:r>
          </a:p>
          <a:p>
            <a:r>
              <a:rPr lang="en-US" sz="2100"/>
              <a:t>- ALL: rho 0.633 across 149 pairs</a:t>
            </a:r>
          </a:p>
          <a:p>
            <a:r>
              <a:rPr lang="en-US" sz="2100"/>
              <a:t>- PH: rho 0.483 across 22 pairs</a:t>
            </a:r>
          </a:p>
          <a:p>
            <a:r>
              <a:rPr lang="en-US" sz="2100"/>
              <a:t>- MY: rho 0.433 across 17 pairs</a:t>
            </a:r>
          </a:p>
          <a:p>
            <a:r>
              <a:rPr lang="en-US" sz="2100"/>
              <a:t>- Pooled inward correlation remains positive and significant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Interpretation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GLEIF is strongest as a discovery graph, not a complete register</a:t>
            </a:r>
          </a:p>
          <a:p>
            <a:r>
              <a:rPr lang="en-US" sz="2100"/>
              <a:t>- Known parent evidence is high-quality but incomplete</a:t>
            </a:r>
          </a:p>
          <a:p>
            <a:r>
              <a:rPr lang="en-US" sz="2100"/>
              <a:t>- Model fallback gives broad triage coverage but must be separated from findings</a:t>
            </a:r>
          </a:p>
          <a:p>
            <a:r>
              <a:rPr lang="en-US" sz="2100"/>
              <a:t>- GEM can complement energy/heavy-industry entities as source-backed sector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80000"/>
            <a:ext cx="11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b/>
              </a:rPr>
              <a:t>Next Before Final Submission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200000"/>
            <a:ext cx="112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/>
              <a:t>- Finish refreshed GLEIF crawl for MY and ASEAN</a:t>
            </a:r>
          </a:p>
          <a:p>
            <a:r>
              <a:rPr lang="en-US" sz="2100"/>
              <a:t>- Rebuild UIE assignments, densities, review queues, and CDIS validation</a:t>
            </a:r>
          </a:p>
          <a:p>
            <a:r>
              <a:rPr lang="en-US" sz="2100"/>
              <a:t>- Implement fund/product vehicle rule</a:t>
            </a:r>
          </a:p>
          <a:p>
            <a:r>
              <a:rPr lang="en-US" sz="2100"/>
              <a:t>- Add GEM as auditable sector evidence</a:t>
            </a:r>
          </a:p>
          <a:p>
            <a:r>
              <a:rPr lang="en-US" sz="2100"/>
              <a:t>- Promote only high-impact cases into manual source-backed overrides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erence">
  <a:themeElements>
    <a:clrScheme name="Conference">
      <a:dk1>
        <a:srgbClr val="1F2937"/>
      </a:dk1>
      <a:lt1>
        <a:srgbClr val="FFFFFF"/>
      </a:lt1>
      <a:dk2>
        <a:srgbClr val="334155"/>
      </a:dk2>
      <a:lt2>
        <a:srgbClr val="E5E7EB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Generator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LEI-Based UIE Discovery for ASEAN</dc:title>
  <dc:creator>Codex</dc:creator>
  <cp:lastModifiedBy>Codex</cp:lastModifiedBy>
  <dcterms:created xsi:type="dcterms:W3CDTF">2026-06-22T00:00:00Z</dcterms:created>
  <dcterms:modified xsi:type="dcterms:W3CDTF">2026-06-22T00:00:00Z</dcterms:modified>
</cp:coreProperties>
</file>